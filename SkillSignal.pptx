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402118c-7c1e-919b-29c0-0f8e8482b48f}">
          <p14:sldIdLst>
            <p14:sldId id="256"/>
            <p14:sldId id="257"/>
            <p14:sldId id="258"/>
          </p14:sldIdLst>
        </p14:section>
        <p14:section name="Method" id="{a8c0df91-517c-ca0c-5ddd-8f8373c2562c}">
          <p14:sldIdLst>
            <p14:sldId id="259"/>
            <p14:sldId id="260"/>
            <p14:sldId id="261"/>
            <p14:sldId id="262"/>
          </p14:sldIdLst>
        </p14:section>
        <p14:section name="Results" id="{d03915f2-4955-153b-c456-6537f571a10e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e" id="{eb9208c5-f554-f04e-f12c-0285e797e2de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1B26"/>
                </a:solidFill>
                <a:latin typeface="+mn-lt"/>
              </a:rPr>
              <a:t>Test-set label counts, all job families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spPr>
            <a:solidFill>
              <a:srgbClr val="12A39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Fit</c:v>
                  </c:pt>
                  <c:pt idx="1">
                    <c:v>Good Fit</c:v>
                  </c:pt>
                  <c:pt idx="2">
                    <c:v>Potential Fit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857</c:v>
                </c:pt>
                <c:pt idx="1">
                  <c:v>458</c:v>
                </c:pt>
                <c:pt idx="2">
                  <c:v>444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E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DDE3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1B26"/>
                </a:solidFill>
                <a:latin typeface="+mn-lt"/>
              </a:rPr>
              <a:t>Ranking quality on real Business Analyst résumés (K =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P@5</c:v>
                  </c:pt>
                  <c:pt idx="1">
                    <c:v>R@5</c:v>
                  </c:pt>
                  <c:pt idx="2">
                    <c:v>NDCG@5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0.467</c:v>
                </c:pt>
                <c:pt idx="1">
                  <c:v>0.406</c:v>
                </c:pt>
                <c:pt idx="2">
                  <c:v>0.677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Embeddings</c:v>
                </c:pt>
              </c:strCache>
            </c:strRef>
          </c:tx>
          <c:spPr>
            <a:solidFill>
              <a:srgbClr val="12A39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P@5</c:v>
                  </c:pt>
                  <c:pt idx="1">
                    <c:v>R@5</c:v>
                  </c:pt>
                  <c:pt idx="2">
                    <c:v>NDCG@5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0.467</c:v>
                </c:pt>
                <c:pt idx="1">
                  <c:v>0.406</c:v>
                </c:pt>
                <c:pt idx="2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E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DDE3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1B26"/>
                </a:solidFill>
                <a:latin typeface="+mn-lt"/>
              </a:rPr>
              <a:t>Mean match score, same 15 candidates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Concise</c:v>
                  </c:pt>
                  <c:pt idx="1">
                    <c:v>Verbose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0.214</c:v>
                </c:pt>
                <c:pt idx="1">
                  <c:v>0.028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Embeddings</c:v>
                </c:pt>
              </c:strCache>
            </c:strRef>
          </c:tx>
          <c:spPr>
            <a:solidFill>
              <a:srgbClr val="12A39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Concise</c:v>
                  </c:pt>
                  <c:pt idx="1">
                    <c:v>Verbose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0.422</c:v>
                </c:pt>
                <c:pt idx="1">
                  <c:v>0.341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E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DDE3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1B26"/>
                </a:solidFill>
                <a:latin typeface="+mn-lt"/>
              </a:rPr>
              <a:t>Absolute score change, concise to verbose (n = 15 profiles)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  <c:pt idx="12">
                    <c:v>P13</c:v>
                  </c:pt>
                  <c:pt idx="13">
                    <c:v>P14</c:v>
                  </c:pt>
                  <c:pt idx="14">
                    <c:v>P15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0.314</c:v>
                </c:pt>
                <c:pt idx="1">
                  <c:v>0.185</c:v>
                </c:pt>
                <c:pt idx="2">
                  <c:v>0.133</c:v>
                </c:pt>
                <c:pt idx="3">
                  <c:v>0.206</c:v>
                </c:pt>
                <c:pt idx="4">
                  <c:v>0.135</c:v>
                </c:pt>
                <c:pt idx="5">
                  <c:v>0.149</c:v>
                </c:pt>
                <c:pt idx="6">
                  <c:v>0.314</c:v>
                </c:pt>
                <c:pt idx="7">
                  <c:v>0.225</c:v>
                </c:pt>
                <c:pt idx="8">
                  <c:v>0.137</c:v>
                </c:pt>
                <c:pt idx="9">
                  <c:v>0.136</c:v>
                </c:pt>
                <c:pt idx="10">
                  <c:v>0.154</c:v>
                </c:pt>
                <c:pt idx="11">
                  <c:v>0.173</c:v>
                </c:pt>
                <c:pt idx="12">
                  <c:v>0.159</c:v>
                </c:pt>
                <c:pt idx="13">
                  <c:v>0.098</c:v>
                </c:pt>
                <c:pt idx="14">
                  <c:v>0.28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Embeddings</c:v>
                </c:pt>
              </c:strCache>
            </c:strRef>
          </c:tx>
          <c:spPr>
            <a:solidFill>
              <a:srgbClr val="12A39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  <c:pt idx="12">
                    <c:v>P13</c:v>
                  </c:pt>
                  <c:pt idx="13">
                    <c:v>P14</c:v>
                  </c:pt>
                  <c:pt idx="14">
                    <c:v>P15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0.021</c:v>
                </c:pt>
                <c:pt idx="1">
                  <c:v>0.085</c:v>
                </c:pt>
                <c:pt idx="2">
                  <c:v>0.055</c:v>
                </c:pt>
                <c:pt idx="3">
                  <c:v>0.097</c:v>
                </c:pt>
                <c:pt idx="4">
                  <c:v>0.071</c:v>
                </c:pt>
                <c:pt idx="5">
                  <c:v>0.096</c:v>
                </c:pt>
                <c:pt idx="6">
                  <c:v>0.047</c:v>
                </c:pt>
                <c:pt idx="7">
                  <c:v>0.092</c:v>
                </c:pt>
                <c:pt idx="8">
                  <c:v>0.067</c:v>
                </c:pt>
                <c:pt idx="9">
                  <c:v>0.143</c:v>
                </c:pt>
                <c:pt idx="10">
                  <c:v>0.112</c:v>
                </c:pt>
                <c:pt idx="11">
                  <c:v>0.109</c:v>
                </c:pt>
                <c:pt idx="12">
                  <c:v>0.086</c:v>
                </c:pt>
                <c:pt idx="13">
                  <c:v>0.089</c:v>
                </c:pt>
                <c:pt idx="14">
                  <c:v>0.036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E1B2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DDE3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0:00–0:35. Resume screening by text similarity can overlook candidates with equivalent skills who word things differently. SkillSignal tests that with two models and a controlled paired-profile audit. Hook: rewording identical skills cut TF-IDF scores by 87%.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slide. Textual-similarity screening can favour wording over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0:35–1:20. Research question, pipeline, two datasets. Dataset B is synthetic and labelled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Real dataset. Binary relevance: Good Fit = 1. Graded: Good 2, Potential 1, No Fit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Five of the eight skill rewrites shown. Same underlying skills, different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Note preprocessing differs: TF-IDF uses cleaned text, embeddings use raw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Labels are human-defined, not generated by the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1:20–2:15. Difference is small and only 3 postings contributed, so no claim that embeddings are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2:15–3:35. Centrepiece. Mean absolute change 0.187 (TF-IDF) vs 0.080 (embeddings), n =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Per-profile score change. TF-IDF changed more in 14 of 15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2:15–3:35 alternative example. The words changed, not the qualifications; TF-IDF fell 79%, embeddings 19%.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3:35–4:25. Matched and missing skills explain a score but a high skill match can still be a No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Error analysis. 0/66 is partly by construction: the dictionary matches exact phrases, which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One-page model card summary. SkillSignal does not eliminate hiring bias; it tests one narrow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BACKUP. Be transparent about what was completed and what remains experimental.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4:25–5:00. Wording changes match scores even with identical skills. SkillSignal supports, never replaces, recruiter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SkillSignal  ·  Résumé–job matching audit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SkillSignal  ·  Résumé–job matching audit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NLP PROJECT  ·  CA3  ·  OCTOBER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SkillSignal:</a:t>
            </a:r>
            <a:endParaRPr lang="en-US" sz="4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Resume–Job Matching System with a Writing-Style Fairness Audit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RESEARCH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Does the way a candidate describes their experience change their match score, even when their qualifications are equivalent?</a:t>
            </a:r>
            <a:endParaRPr lang="en-US" sz="1400" dirty="0"/>
          </a:p>
        </p:txBody>
      </p:sp>
      <p:sp>
        <p:nvSpPr>
          <p:cNvPr id="6" name="Ring outer"/>
          <p:cNvSpPr/>
          <p:nvPr/>
        </p:nvSpPr>
        <p:spPr>
          <a:xfrm>
            <a:off x="6035040" y="548640"/>
            <a:ext cx="2560320" cy="256032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7" name="Ring middle"/>
          <p:cNvSpPr/>
          <p:nvPr/>
        </p:nvSpPr>
        <p:spPr>
          <a:xfrm>
            <a:off x="6446520" y="960120"/>
            <a:ext cx="1737360" cy="17373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8" name="Ring inner"/>
          <p:cNvSpPr/>
          <p:nvPr/>
        </p:nvSpPr>
        <p:spPr>
          <a:xfrm>
            <a:off x="6858000" y="1371600"/>
            <a:ext cx="914400" cy="914400"/>
          </a:xfrm>
          <a:prstGeom prst="ellipse">
            <a:avLst/>
          </a:prstGeom>
          <a:ln w="19050">
            <a:solidFill>
              <a:schemeClr val="accent5"/>
            </a:solidFill>
            <a:prstDash val="solid"/>
          </a:ln>
        </p:spPr>
      </p:sp>
      <p:sp>
        <p:nvSpPr>
          <p:cNvPr id="9" name="Dot centre"/>
          <p:cNvSpPr/>
          <p:nvPr/>
        </p:nvSpPr>
        <p:spPr>
          <a:xfrm>
            <a:off x="7168896" y="168249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ot teal"/>
          <p:cNvSpPr/>
          <p:nvPr/>
        </p:nvSpPr>
        <p:spPr>
          <a:xfrm>
            <a:off x="7847061" y="1132347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Dot amber"/>
          <p:cNvSpPr/>
          <p:nvPr/>
        </p:nvSpPr>
        <p:spPr>
          <a:xfrm>
            <a:off x="6124285" y="2386584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Chip 1"/>
          <p:cNvSpPr/>
          <p:nvPr/>
        </p:nvSpPr>
        <p:spPr>
          <a:xfrm>
            <a:off x="548640" y="3840480"/>
            <a:ext cx="187452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1,759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real résumé–job pairs</a:t>
            </a:r>
            <a:endParaRPr lang="en-US" sz="1100" dirty="0"/>
          </a:p>
        </p:txBody>
      </p:sp>
      <p:sp>
        <p:nvSpPr>
          <p:cNvPr id="15" name="Chip 2"/>
          <p:cNvSpPr/>
          <p:nvPr/>
        </p:nvSpPr>
        <p:spPr>
          <a:xfrm>
            <a:off x="2606040" y="3840480"/>
            <a:ext cx="187452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0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synthetic paired profiles</a:t>
            </a:r>
            <a:endParaRPr lang="en-US" sz="1100" dirty="0"/>
          </a:p>
        </p:txBody>
      </p:sp>
      <p:sp>
        <p:nvSpPr>
          <p:cNvPr id="18" name="Chip 3"/>
          <p:cNvSpPr/>
          <p:nvPr/>
        </p:nvSpPr>
        <p:spPr>
          <a:xfrm>
            <a:off x="4663440" y="3840480"/>
            <a:ext cx="187452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00600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models: TF-IDF vs embeddings</a:t>
            </a:r>
            <a:endParaRPr lang="en-US" sz="1100" dirty="0"/>
          </a:p>
        </p:txBody>
      </p:sp>
      <p:sp>
        <p:nvSpPr>
          <p:cNvPr id="21" name="Chip 4"/>
          <p:cNvSpPr/>
          <p:nvPr/>
        </p:nvSpPr>
        <p:spPr>
          <a:xfrm>
            <a:off x="6720840" y="3840480"/>
            <a:ext cx="1874520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−87%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279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TF-IDF score after rewording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wording matters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38328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systems reward résumés that echo the job ad's wording.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Scores are decision support, never hiring probabilities.</a:t>
            </a:r>
            <a:endParaRPr lang="en-US" sz="1200" dirty="0"/>
          </a:p>
        </p:txBody>
      </p:sp>
      <p:sp>
        <p:nvSpPr>
          <p:cNvPr id="7" name="Problem row 1"/>
          <p:cNvSpPr/>
          <p:nvPr/>
        </p:nvSpPr>
        <p:spPr>
          <a:xfrm>
            <a:off x="4114800" y="1188720"/>
            <a:ext cx="45720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Icon circle Lexical overlap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Lexical over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15636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Lexical overlap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627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TF-IDF scores shared words, not shared skills.</a:t>
            </a:r>
            <a:endParaRPr lang="en-US" sz="1400" dirty="0"/>
          </a:p>
        </p:txBody>
      </p:sp>
      <p:sp>
        <p:nvSpPr>
          <p:cNvPr id="12" name="Problem row 2"/>
          <p:cNvSpPr/>
          <p:nvPr/>
        </p:nvSpPr>
        <p:spPr>
          <a:xfrm>
            <a:off x="4114800" y="2331720"/>
            <a:ext cx="45720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" name="Icon circle Equivalent candidates"/>
          <p:cNvSpPr/>
          <p:nvPr/>
        </p:nvSpPr>
        <p:spPr>
          <a:xfrm>
            <a:off x="4343400" y="2606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Equivalent candid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70662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Equivalent candidates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2770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Two people with the same skills can describe them very differently.</a:t>
            </a:r>
            <a:endParaRPr lang="en-US" sz="1400" dirty="0"/>
          </a:p>
        </p:txBody>
      </p:sp>
      <p:sp>
        <p:nvSpPr>
          <p:cNvPr id="17" name="Problem row 3"/>
          <p:cNvSpPr/>
          <p:nvPr/>
        </p:nvSpPr>
        <p:spPr>
          <a:xfrm>
            <a:off x="4114800" y="3474720"/>
            <a:ext cx="45720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Icon circle Hidden unfairness"/>
          <p:cNvSpPr/>
          <p:nvPr/>
        </p:nvSpPr>
        <p:spPr>
          <a:xfrm>
            <a:off x="4343400" y="3749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2" descr="Hidden unfairn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8496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92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Hidden unfairness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skilled candidate can rank lower for wording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one question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Does wording change the match score when qualifications are identical?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463040"/>
            <a:ext cx="188595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Icon circle Input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In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465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4560"/>
            <a:ext cx="1611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50592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Job ad + résumés</a:t>
            </a:r>
            <a:endParaRPr lang="en-US" sz="1200" dirty="0"/>
          </a:p>
        </p:txBody>
      </p:sp>
      <p:sp>
        <p:nvSpPr>
          <p:cNvPr id="9" name="Step card 2"/>
          <p:cNvSpPr/>
          <p:nvPr/>
        </p:nvSpPr>
        <p:spPr>
          <a:xfrm>
            <a:off x="2571750" y="1463040"/>
            <a:ext cx="188595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Icon circle Clean + extract"/>
          <p:cNvSpPr/>
          <p:nvPr/>
        </p:nvSpPr>
        <p:spPr>
          <a:xfrm>
            <a:off x="275463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Clean + extr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214" y="17465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4630" y="2194560"/>
            <a:ext cx="1611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Clean + extract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54630" y="2450592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Regex cleaning, skill dictionary</a:t>
            </a:r>
            <a:endParaRPr lang="en-US" sz="1200" dirty="0"/>
          </a:p>
        </p:txBody>
      </p:sp>
      <p:sp>
        <p:nvSpPr>
          <p:cNvPr id="14" name="Step card 3"/>
          <p:cNvSpPr/>
          <p:nvPr/>
        </p:nvSpPr>
        <p:spPr>
          <a:xfrm>
            <a:off x="4686300" y="1463040"/>
            <a:ext cx="188595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Icon circle Score"/>
          <p:cNvSpPr/>
          <p:nvPr/>
        </p:nvSpPr>
        <p:spPr>
          <a:xfrm>
            <a:off x="486918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Sc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7465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69180" y="2194560"/>
            <a:ext cx="1611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69180" y="2450592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A: TF-IDF  ·  B: embeddings</a:t>
            </a:r>
            <a:endParaRPr lang="en-US" sz="1200" dirty="0"/>
          </a:p>
        </p:txBody>
      </p:sp>
      <p:sp>
        <p:nvSpPr>
          <p:cNvPr id="19" name="Step card 4"/>
          <p:cNvSpPr/>
          <p:nvPr/>
        </p:nvSpPr>
        <p:spPr>
          <a:xfrm>
            <a:off x="6800850" y="1463040"/>
            <a:ext cx="188595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0" name="Icon circle Report + audit"/>
          <p:cNvSpPr/>
          <p:nvPr/>
        </p:nvSpPr>
        <p:spPr>
          <a:xfrm>
            <a:off x="698373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Report + aud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314" y="17465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83730" y="2194560"/>
            <a:ext cx="16116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 + audit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83730" y="2450592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Matched skills, rank shifts</a:t>
            </a:r>
            <a:endParaRPr lang="en-US" sz="1200" dirty="0"/>
          </a:p>
        </p:txBody>
      </p:sp>
      <p:sp>
        <p:nvSpPr>
          <p:cNvPr id="24" name="Panel real"/>
          <p:cNvSpPr/>
          <p:nvPr/>
        </p:nvSpPr>
        <p:spPr>
          <a:xfrm>
            <a:off x="457200" y="310896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8580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REAL-WORLD TEXT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1,759</a:t>
            </a:r>
            <a:endParaRPr lang="en-US" sz="4000" dirty="0"/>
          </a:p>
        </p:txBody>
      </p:sp>
      <p:sp>
        <p:nvSpPr>
          <p:cNvPr id="27" name="Text 21"/>
          <p:cNvSpPr txBox="1"/>
          <p:nvPr/>
        </p:nvSpPr>
        <p:spPr>
          <a:xfrm>
            <a:off x="2286000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résumé–job pairs; 240 on Business Analyst roles</a:t>
            </a:r>
            <a:endParaRPr lang="en-US" sz="1400" dirty="0"/>
          </a:p>
        </p:txBody>
      </p:sp>
      <p:sp>
        <p:nvSpPr>
          <p:cNvPr id="28" name="Panel synthetic"/>
          <p:cNvSpPr/>
          <p:nvPr/>
        </p:nvSpPr>
        <p:spPr>
          <a:xfrm>
            <a:off x="4686300" y="310896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91490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CONTROLLED · SYNTHETIC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49149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31" name="Text 25"/>
          <p:cNvSpPr txBox="1"/>
          <p:nvPr/>
        </p:nvSpPr>
        <p:spPr>
          <a:xfrm>
            <a:off x="6515100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paired concise / verbose profiles, known skills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data: 1,759 test pairs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Hugging Face: cnamuangtoun/resume-job-description-fit  (train 6,241 · test 1,759)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ba"/>
          <p:cNvSpPr/>
          <p:nvPr/>
        </p:nvSpPr>
        <p:spPr>
          <a:xfrm>
            <a:off x="5852160" y="1371600"/>
            <a:ext cx="2834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928470"/>
            <a:ext cx="24688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Business Analyst pairs across 10 postings</a:t>
            </a:r>
            <a:endParaRPr lang="en-US" sz="1200" dirty="0"/>
          </a:p>
        </p:txBody>
      </p:sp>
      <p:sp>
        <p:nvSpPr>
          <p:cNvPr id="8" name="Stat jobs"/>
          <p:cNvSpPr/>
          <p:nvPr/>
        </p:nvSpPr>
        <p:spPr>
          <a:xfrm>
            <a:off x="5852160" y="2514600"/>
            <a:ext cx="2834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35040" y="260604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071470"/>
            <a:ext cx="24688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postings with 10 or more candidates</a:t>
            </a:r>
            <a:endParaRPr lang="en-US" sz="1200" dirty="0"/>
          </a:p>
        </p:txBody>
      </p:sp>
      <p:sp>
        <p:nvSpPr>
          <p:cNvPr id="11" name="Stat labels"/>
          <p:cNvSpPr/>
          <p:nvPr/>
        </p:nvSpPr>
        <p:spPr>
          <a:xfrm>
            <a:off x="5852160" y="3657600"/>
            <a:ext cx="2834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· 59 · 120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Good · Potential · No Fit within BA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Synthetic: known skills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One job ad, 8 required skills, each skill written two ways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 wording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 wording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gathering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gathering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eliciting and formally capturing business needs from multiple departments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within iterative sprint-based delivery frameworks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spreadsheet modeling and reporting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producing detailed functional specifications and user stories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interpreting large datasets to uncover actionable business insights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15 profiles · 3 to 8 skills each · 3 hold all 8 skills · fictional, synthetic and labelled as such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model scores</a:t>
            </a:r>
            <a:endParaRPr lang="en-US" sz="3600" dirty="0"/>
          </a:p>
        </p:txBody>
      </p:sp>
      <p:sp>
        <p:nvSpPr>
          <p:cNvPr id="3" name="Model A card"/>
          <p:cNvSpPr/>
          <p:nvPr/>
        </p:nvSpPr>
        <p:spPr>
          <a:xfrm>
            <a:off x="457200" y="1188720"/>
            <a:ext cx="40005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Icon circle Model A: TF-IDF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Model A: TF-I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A: TF-IDF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Lowercase, strip punctuation (regex)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English stop words removed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Fitted per posting, up to 3,000 terms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Cosine similarity to the job ad</a:t>
            </a:r>
            <a:endParaRPr lang="en-US" sz="1400" dirty="0"/>
          </a:p>
        </p:txBody>
      </p:sp>
      <p:sp>
        <p:nvSpPr>
          <p:cNvPr id="8" name="Model B card"/>
          <p:cNvSpPr/>
          <p:nvPr/>
        </p:nvSpPr>
        <p:spPr>
          <a:xfrm>
            <a:off x="4686300" y="1188720"/>
            <a:ext cx="40005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Icon circle Model B: Embeddings"/>
          <p:cNvSpPr/>
          <p:nvPr/>
        </p:nvSpPr>
        <p:spPr>
          <a:xfrm>
            <a:off x="491490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Model B: Embedd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472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549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B: Embeddings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1490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all-MiniLM-L6-v2 sentence embeddings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text, first 3,000 characters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Cosine similarity to the job 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Captures some semantic similarity</a:t>
            </a:r>
            <a:endParaRPr lang="en-US" sz="1400" dirty="0"/>
          </a:p>
        </p:txBody>
      </p:sp>
      <p:sp>
        <p:nvSpPr>
          <p:cNvPr id="13" name="Skills strip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Skill extraction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10-skill dictionary with aliases (SQL, Excel, Agile, requirements gathering…) matched on cleaned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RANKING QUALITY · REAL DATA</a:t>
            </a:r>
            <a:endParaRPr lang="en-US" sz="1100" dirty="0"/>
          </a:p>
        </p:txBody>
      </p:sp>
      <p:sp>
        <p:nvSpPr>
          <p:cNvPr id="4" name="Metric rank 1"/>
          <p:cNvSpPr/>
          <p:nvPr/>
        </p:nvSpPr>
        <p:spPr>
          <a:xfrm>
            <a:off x="457200" y="150876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Precision@5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 of the top 5 that are Good Fit</a:t>
            </a:r>
            <a:endParaRPr lang="en-US" sz="1300" dirty="0"/>
          </a:p>
        </p:txBody>
      </p:sp>
      <p:sp>
        <p:nvSpPr>
          <p:cNvPr id="7" name="Metric rank 2"/>
          <p:cNvSpPr/>
          <p:nvPr/>
        </p:nvSpPr>
        <p:spPr>
          <a:xfrm>
            <a:off x="457200" y="251460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Recall@5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35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 of all Good Fits found in the top 5</a:t>
            </a:r>
            <a:endParaRPr lang="en-US" sz="1300" dirty="0"/>
          </a:p>
        </p:txBody>
      </p:sp>
      <p:sp>
        <p:nvSpPr>
          <p:cNvPr id="10" name="Metric rank 3"/>
          <p:cNvSpPr/>
          <p:nvPr/>
        </p:nvSpPr>
        <p:spPr>
          <a:xfrm>
            <a:off x="457200" y="352044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NDCG@5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Rewards Good Fit near the top (graded 2 / 1 / 0)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6300" y="118872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STYLE AUDIT · SYNTHETIC DATA</a:t>
            </a:r>
            <a:endParaRPr lang="en-US" sz="1100" dirty="0"/>
          </a:p>
        </p:txBody>
      </p:sp>
      <p:sp>
        <p:nvSpPr>
          <p:cNvPr id="14" name="Metric audit 1"/>
          <p:cNvSpPr/>
          <p:nvPr/>
        </p:nvSpPr>
        <p:spPr>
          <a:xfrm>
            <a:off x="4686300" y="150876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918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Mean |score change|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Concise vs verbose score gap, same candidate</a:t>
            </a:r>
            <a:endParaRPr lang="en-US" sz="1300" dirty="0"/>
          </a:p>
        </p:txBody>
      </p:sp>
      <p:sp>
        <p:nvSpPr>
          <p:cNvPr id="17" name="Metric audit 2"/>
          <p:cNvSpPr/>
          <p:nvPr/>
        </p:nvSpPr>
        <p:spPr>
          <a:xfrm>
            <a:off x="4686300" y="251460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6918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% rank changed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935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Profiles whose rank moves after rewording</a:t>
            </a:r>
            <a:endParaRPr lang="en-US" sz="1300" dirty="0"/>
          </a:p>
        </p:txBody>
      </p:sp>
      <p:sp>
        <p:nvSpPr>
          <p:cNvPr id="20" name="Metric audit 3"/>
          <p:cNvSpPr/>
          <p:nvPr/>
        </p:nvSpPr>
        <p:spPr>
          <a:xfrm>
            <a:off x="4686300" y="3520440"/>
            <a:ext cx="40005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Skill coverage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Known skills still detected after rewording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edge out TF-IDF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035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ndcg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 vs 0.68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77210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NDCG@5, embeddings vs TF-IDF</a:t>
            </a:r>
            <a:endParaRPr lang="en-US" sz="1200" dirty="0"/>
          </a:p>
        </p:txBody>
      </p:sp>
      <p:sp>
        <p:nvSpPr>
          <p:cNvPr id="7" name="Stat tie"/>
          <p:cNvSpPr/>
          <p:nvPr/>
        </p:nvSpPr>
        <p:spPr>
          <a:xfrm>
            <a:off x="6035040" y="237744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6082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P@5 0.47 and R@5 0.41 for both models</a:t>
            </a:r>
            <a:endParaRPr lang="en-US" sz="1200" dirty="0"/>
          </a:p>
        </p:txBody>
      </p:sp>
      <p:sp>
        <p:nvSpPr>
          <p:cNvPr id="10" name="Stat n"/>
          <p:cNvSpPr/>
          <p:nvPr/>
        </p:nvSpPr>
        <p:spPr>
          <a:xfrm>
            <a:off x="6035040" y="3566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49547"/>
            <a:ext cx="22860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postings with a Good Fit candidate scored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skills, different score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tfidf"/>
          <p:cNvSpPr/>
          <p:nvPr/>
        </p:nvSpPr>
        <p:spPr>
          <a:xfrm>
            <a:off x="5486400" y="11887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−87%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TF-IDF score after rewording (0.21 → 0.03)</a:t>
            </a:r>
            <a:endParaRPr lang="en-US" sz="1200" dirty="0"/>
          </a:p>
        </p:txBody>
      </p:sp>
      <p:sp>
        <p:nvSpPr>
          <p:cNvPr id="7" name="Stat embed"/>
          <p:cNvSpPr/>
          <p:nvPr/>
        </p:nvSpPr>
        <p:spPr>
          <a:xfrm>
            <a:off x="5486400" y="237744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Embedding score after rewording (0.42 → 0.34)</a:t>
            </a:r>
            <a:endParaRPr lang="en-US" sz="1200" dirty="0"/>
          </a:p>
        </p:txBody>
      </p:sp>
      <p:sp>
        <p:nvSpPr>
          <p:cNvPr id="10" name="Stat rank"/>
          <p:cNvSpPr/>
          <p:nvPr/>
        </p:nvSpPr>
        <p:spPr>
          <a:xfrm>
            <a:off x="5486400" y="356616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3657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93/80%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of profiles changed rank: TF-IDF | embeddings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profile moved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ini stat 1"/>
          <p:cNvSpPr/>
          <p:nvPr/>
        </p:nvSpPr>
        <p:spPr>
          <a:xfrm>
            <a:off x="457200" y="4023360"/>
            <a:ext cx="259049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4023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Largest TF-IDF change: Profiles 1 and 7</a:t>
            </a:r>
            <a:endParaRPr lang="en-US" sz="1100" dirty="0"/>
          </a:p>
        </p:txBody>
      </p:sp>
      <p:sp>
        <p:nvSpPr>
          <p:cNvPr id="7" name="Mini stat 2"/>
          <p:cNvSpPr/>
          <p:nvPr/>
        </p:nvSpPr>
        <p:spPr>
          <a:xfrm>
            <a:off x="3276570" y="4023360"/>
            <a:ext cx="259049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1373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373850" y="4023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Largest embedding change: Profile 10</a:t>
            </a:r>
            <a:endParaRPr lang="en-US" sz="1100" dirty="0"/>
          </a:p>
        </p:txBody>
      </p:sp>
      <p:sp>
        <p:nvSpPr>
          <p:cNvPr id="10" name="Mini stat 3"/>
          <p:cNvSpPr/>
          <p:nvPr/>
        </p:nvSpPr>
        <p:spPr>
          <a:xfrm>
            <a:off x="6095939" y="4023360"/>
            <a:ext cx="259049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33099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of 15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93219" y="4023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profiles shifted more under TF-IDF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Profile_5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Same three skills, written two ways</a:t>
            </a:r>
            <a:endParaRPr lang="en-US" sz="1400" dirty="0"/>
          </a:p>
        </p:txBody>
      </p:sp>
      <p:sp>
        <p:nvSpPr>
          <p:cNvPr id="4" name="Case concise"/>
          <p:cNvSpPr/>
          <p:nvPr/>
        </p:nvSpPr>
        <p:spPr>
          <a:xfrm>
            <a:off x="45720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CONCISE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stakeholder management, agile, documentation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TF-IDF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Skills appear verbatim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4297680" y="2743200"/>
            <a:ext cx="548640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se verbose"/>
          <p:cNvSpPr/>
          <p:nvPr/>
        </p:nvSpPr>
        <p:spPr>
          <a:xfrm>
            <a:off x="493776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6636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VERBOSE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288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building strong working relationships with cross-functional partners and leadership; working within iterative sprint-based delivery frameworks; producing detailed functional specifications and user stories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0.309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TF-IDF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Dictionary found 0 of 3 skills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one match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Top-ranked résumés for one Business Analyst posting (by TF-IDF)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matched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A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5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5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5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5"/>
                    </a:solidFill>
                  </a:tcPr>
                </a:tc>
              </a:tr>
            </a:tbl>
          </a:graphicData>
        </a:graphic>
      </p:graphicFrame>
      <p:sp>
        <p:nvSpPr>
          <p:cNvPr id="5" name="Takeaway card"/>
          <p:cNvSpPr/>
          <p:nvPr/>
        </p:nvSpPr>
        <p:spPr>
          <a:xfrm>
            <a:off x="457200" y="3611880"/>
            <a:ext cx="50292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Keyword overlap ≠ fit.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No Fit résumé matched 7 skills, more than the Good Fit one (6).</a:t>
            </a:r>
            <a:endParaRPr lang="en-US" sz="1400" dirty="0"/>
          </a:p>
        </p:txBody>
      </p:sp>
      <p:sp>
        <p:nvSpPr>
          <p:cNvPr id="7" name="Report card"/>
          <p:cNvSpPr/>
          <p:nvPr/>
        </p:nvSpPr>
        <p:spPr>
          <a:xfrm>
            <a:off x="5760720" y="1188720"/>
            <a:ext cx="2926080" cy="329184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Each report shows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8745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Both scores side by side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Skills matched and missing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Label for sanity checking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No term-level view for embeddings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wrong</a:t>
            </a:r>
            <a:endParaRPr lang="en-US" sz="3600" dirty="0"/>
          </a:p>
        </p:txBody>
      </p:sp>
      <p:sp>
        <p:nvSpPr>
          <p:cNvPr id="3" name="Error card 1"/>
          <p:cNvSpPr/>
          <p:nvPr/>
        </p:nvSpPr>
        <p:spPr>
          <a:xfrm>
            <a:off x="457200" y="1188720"/>
            <a:ext cx="2590495" cy="3291840"/>
          </a:xfrm>
          <a:prstGeom prst="roundRect">
            <a:avLst>
              <a:gd name="adj" fmla="val 42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Missed skills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literal dictionary found none of the true skills once phrasing changed.</a:t>
            </a:r>
            <a:endParaRPr lang="en-US" sz="1400" dirty="0"/>
          </a:p>
        </p:txBody>
      </p:sp>
      <p:sp>
        <p:nvSpPr>
          <p:cNvPr id="7" name="Error card 2"/>
          <p:cNvSpPr/>
          <p:nvPr/>
        </p:nvSpPr>
        <p:spPr>
          <a:xfrm>
            <a:off x="3276570" y="1188720"/>
            <a:ext cx="2590495" cy="3291840"/>
          </a:xfrm>
          <a:prstGeom prst="roundRect">
            <a:avLst>
              <a:gd name="adj" fmla="val 42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517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vs 6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0517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False match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517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No Fit résumé matched more skills than the Good Fit one.</a:t>
            </a:r>
            <a:endParaRPr lang="en-US" sz="1400" dirty="0"/>
          </a:p>
        </p:txBody>
      </p:sp>
      <p:sp>
        <p:nvSpPr>
          <p:cNvPr id="11" name="Error card 3"/>
          <p:cNvSpPr/>
          <p:nvPr/>
        </p:nvSpPr>
        <p:spPr>
          <a:xfrm>
            <a:off x="6095939" y="1188720"/>
            <a:ext cx="2590495" cy="3291840"/>
          </a:xfrm>
          <a:prstGeom prst="roundRect">
            <a:avLst>
              <a:gd name="adj" fmla="val 423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4539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24539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Lexical fragility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24539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TF-IDF scores shifted more than embedding scores in 14 of 15 profiles.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</a:t>
            </a:r>
            <a:endParaRPr lang="en-US" sz="3600" dirty="0"/>
          </a:p>
        </p:txBody>
      </p:sp>
      <p:sp>
        <p:nvSpPr>
          <p:cNvPr id="3" name="Model card Overview"/>
          <p:cNvSpPr/>
          <p:nvPr/>
        </p:nvSpPr>
        <p:spPr>
          <a:xfrm>
            <a:off x="457200" y="118872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Overview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Explainable résumé–job matching with a writing-style audit, for preliminary screening.</a:t>
            </a:r>
            <a:endParaRPr lang="en-US" sz="1200" dirty="0"/>
          </a:p>
        </p:txBody>
      </p:sp>
      <p:sp>
        <p:nvSpPr>
          <p:cNvPr id="6" name="Model card Dataset"/>
          <p:cNvSpPr/>
          <p:nvPr/>
        </p:nvSpPr>
        <p:spPr>
          <a:xfrm>
            <a:off x="3276570" y="118872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5945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59450" y="16459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1,759 real test pairs (240 Business Analyst) plus 15 synthetic paired profiles, labelled.</a:t>
            </a:r>
            <a:endParaRPr lang="en-US" sz="1200" dirty="0"/>
          </a:p>
        </p:txBody>
      </p:sp>
      <p:sp>
        <p:nvSpPr>
          <p:cNvPr id="9" name="Model card Intended use"/>
          <p:cNvSpPr/>
          <p:nvPr/>
        </p:nvSpPr>
        <p:spPr>
          <a:xfrm>
            <a:off x="6095939" y="118872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78819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Intended use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78819" y="16459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Decision support for skill matching. Not a hiring decision or probability.</a:t>
            </a:r>
            <a:endParaRPr lang="en-US" sz="1200" dirty="0"/>
          </a:p>
        </p:txBody>
      </p:sp>
      <p:sp>
        <p:nvSpPr>
          <p:cNvPr id="12" name="Model card Performance"/>
          <p:cNvSpPr/>
          <p:nvPr/>
        </p:nvSpPr>
        <p:spPr>
          <a:xfrm>
            <a:off x="457200" y="288036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375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P@5 0.47, R@5 0.41, NDCG@5 0.68 (TF-IDF) and 0.70 (embeddings), n = 3 postings.</a:t>
            </a:r>
            <a:endParaRPr lang="en-US" sz="1200" dirty="0"/>
          </a:p>
        </p:txBody>
      </p:sp>
      <p:sp>
        <p:nvSpPr>
          <p:cNvPr id="15" name="Model card Fairness audit"/>
          <p:cNvSpPr/>
          <p:nvPr/>
        </p:nvSpPr>
        <p:spPr>
          <a:xfrm>
            <a:off x="3276570" y="288036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5945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Fairness audit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59450" y="33375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score change 0.187 vs 0.080; ranks changed 93% vs 80%, n = 15.</a:t>
            </a:r>
            <a:endParaRPr lang="en-US" sz="1200" dirty="0"/>
          </a:p>
        </p:txBody>
      </p:sp>
      <p:sp>
        <p:nvSpPr>
          <p:cNvPr id="18" name="Model card Limitations"/>
          <p:cNvSpPr/>
          <p:nvPr/>
        </p:nvSpPr>
        <p:spPr>
          <a:xfrm>
            <a:off x="6095939" y="2880360"/>
            <a:ext cx="259049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8819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78819" y="33375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Literal skill dictionary, wording sensitivity, small samples, no job-performance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3600" dirty="0"/>
          </a:p>
        </p:txBody>
      </p:sp>
      <p:sp>
        <p:nvSpPr>
          <p:cNvPr id="3" name="Limits card"/>
          <p:cNvSpPr/>
          <p:nvPr/>
        </p:nvSpPr>
        <p:spPr>
          <a:xfrm>
            <a:off x="457200" y="1188720"/>
            <a:ext cx="40005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3 postings scorable for ranking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 templated profiles, one job family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Dictionary matches literal phrases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TF-IDF and embeddings use different text prep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measure of real job performance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4686300" y="1188720"/>
            <a:ext cx="40005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149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1490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Grow to 30–50 profiles and more job families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Paraphrase-aware skill extraction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 more postings for stronger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 TF-IDF term weights in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recruiters, don't replace them</a:t>
            </a:r>
            <a:endParaRPr lang="en-US" sz="3600" dirty="0"/>
          </a:p>
        </p:txBody>
      </p:sp>
      <p:sp>
        <p:nvSpPr>
          <p:cNvPr id="3" name="Takeaway 1"/>
          <p:cNvSpPr/>
          <p:nvPr/>
        </p:nvSpPr>
        <p:spPr>
          <a:xfrm>
            <a:off x="457200" y="1828800"/>
            <a:ext cx="2590495" cy="256032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−87%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Wording moves scores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TF-IDF scores collapsed when identical skills were paraphrased.</a:t>
            </a:r>
            <a:endParaRPr lang="en-US" sz="1400" dirty="0"/>
          </a:p>
        </p:txBody>
      </p:sp>
      <p:sp>
        <p:nvSpPr>
          <p:cNvPr id="7" name="Takeaway 2"/>
          <p:cNvSpPr/>
          <p:nvPr/>
        </p:nvSpPr>
        <p:spPr>
          <a:xfrm>
            <a:off x="3276570" y="1828800"/>
            <a:ext cx="2590495" cy="256032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5170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0517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Semantics help a bit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05170" y="32004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Even embeddings reshuffled the ranks of 80% of profiles.</a:t>
            </a:r>
            <a:endParaRPr lang="en-US" sz="1400" dirty="0"/>
          </a:p>
        </p:txBody>
      </p:sp>
      <p:sp>
        <p:nvSpPr>
          <p:cNvPr id="11" name="Takeaway 3"/>
          <p:cNvSpPr/>
          <p:nvPr/>
        </p:nvSpPr>
        <p:spPr>
          <a:xfrm>
            <a:off x="6095939" y="1828800"/>
            <a:ext cx="2590495" cy="256032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4539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3 · 15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24539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Pilot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4539" y="32004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Three real postings, fifteen synthetic profiles. Scores are not hiring odds.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Signal">
  <a:themeElements>
    <a:clrScheme name="SkillSignal">
      <a:dk1>
        <a:srgbClr val="0E1B26"/>
      </a:dk1>
      <a:lt1>
        <a:srgbClr val="FFFFFF"/>
      </a:lt1>
      <a:dk2>
        <a:srgbClr val="1B2F3F"/>
      </a:dk2>
      <a:lt2>
        <a:srgbClr val="F1F4F5"/>
      </a:lt2>
      <a:accent1>
        <a:srgbClr val="FF5A36"/>
      </a:accent1>
      <a:accent2>
        <a:srgbClr val="12A39B"/>
      </a:accent2>
      <a:accent3>
        <a:srgbClr val="5B6B7B"/>
      </a:accent3>
      <a:accent4>
        <a:srgbClr val="FFC857"/>
      </a:accent4>
      <a:accent5>
        <a:srgbClr val="9FB3C2"/>
      </a:accent5>
      <a:accent6>
        <a:srgbClr val="2A3B4C"/>
      </a:accent6>
      <a:hlink>
        <a:srgbClr val="12A39B"/>
      </a:hlink>
      <a:folHlink>
        <a:srgbClr val="5B6B7B"/>
      </a:folHlink>
    </a:clrScheme>
    <a:fontScheme name="Skill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SkillSignal</dc:title>
  <dc:subject>PptxGenJS Presentation</dc:subject>
  <dc:creator>SkillSignal</dc:creator>
  <cp:lastModifiedBy>SkillSignal</cp:lastModifiedBy>
  <cp:revision>1</cp:revision>
  <dcterms:created xsi:type="dcterms:W3CDTF">2026-10-09T18:03:10Z</dcterms:created>
  <dcterms:modified xsi:type="dcterms:W3CDTF">2026-10-09T18:03:10Z</dcterms:modified>
</cp:coreProperties>
</file>